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62" r:id="rId7"/>
    <p:sldId id="258" r:id="rId8"/>
    <p:sldId id="259" r:id="rId9"/>
    <p:sldId id="260" r:id="rId10"/>
    <p:sldId id="261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3253C4-3B06-4A7D-8BD3-EEE08C0AACD5}" v="11" dt="2025-06-17T12:03:20.6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5097" autoAdjust="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20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is URBIN" userId="4b820da4-b95c-427b-b4c5-7ca680eda3a4" providerId="ADAL" clId="{973253C4-3B06-4A7D-8BD3-EEE08C0AACD5}"/>
    <pc:docChg chg="custSel modSld">
      <pc:chgData name="Louis URBIN" userId="4b820da4-b95c-427b-b4c5-7ca680eda3a4" providerId="ADAL" clId="{973253C4-3B06-4A7D-8BD3-EEE08C0AACD5}" dt="2025-06-19T11:45:12.888" v="113" actId="20577"/>
      <pc:docMkLst>
        <pc:docMk/>
      </pc:docMkLst>
      <pc:sldChg chg="modSp mod">
        <pc:chgData name="Louis URBIN" userId="4b820da4-b95c-427b-b4c5-7ca680eda3a4" providerId="ADAL" clId="{973253C4-3B06-4A7D-8BD3-EEE08C0AACD5}" dt="2025-06-18T16:45:55.106" v="112" actId="20577"/>
        <pc:sldMkLst>
          <pc:docMk/>
          <pc:sldMk cId="634543905" sldId="257"/>
        </pc:sldMkLst>
        <pc:spChg chg="mod">
          <ac:chgData name="Louis URBIN" userId="4b820da4-b95c-427b-b4c5-7ca680eda3a4" providerId="ADAL" clId="{973253C4-3B06-4A7D-8BD3-EEE08C0AACD5}" dt="2025-06-18T16:45:55.106" v="112" actId="20577"/>
          <ac:spMkLst>
            <pc:docMk/>
            <pc:sldMk cId="634543905" sldId="257"/>
            <ac:spMk id="3" creationId="{2809D0C4-E8C9-761F-E979-625ABE58A356}"/>
          </ac:spMkLst>
        </pc:spChg>
      </pc:sldChg>
      <pc:sldChg chg="modSp mod">
        <pc:chgData name="Louis URBIN" userId="4b820da4-b95c-427b-b4c5-7ca680eda3a4" providerId="ADAL" clId="{973253C4-3B06-4A7D-8BD3-EEE08C0AACD5}" dt="2025-06-17T11:20:54.151" v="5" actId="20577"/>
        <pc:sldMkLst>
          <pc:docMk/>
          <pc:sldMk cId="3953225292" sldId="266"/>
        </pc:sldMkLst>
        <pc:spChg chg="mod">
          <ac:chgData name="Louis URBIN" userId="4b820da4-b95c-427b-b4c5-7ca680eda3a4" providerId="ADAL" clId="{973253C4-3B06-4A7D-8BD3-EEE08C0AACD5}" dt="2025-06-17T11:20:54.151" v="5" actId="20577"/>
          <ac:spMkLst>
            <pc:docMk/>
            <pc:sldMk cId="3953225292" sldId="266"/>
            <ac:spMk id="2" creationId="{DD85F7CF-134C-BB81-9E95-B7D830D2D010}"/>
          </ac:spMkLst>
        </pc:spChg>
      </pc:sldChg>
      <pc:sldChg chg="addSp delSp modSp mod">
        <pc:chgData name="Louis URBIN" userId="4b820da4-b95c-427b-b4c5-7ca680eda3a4" providerId="ADAL" clId="{973253C4-3B06-4A7D-8BD3-EEE08C0AACD5}" dt="2025-06-19T11:45:12.888" v="113" actId="20577"/>
        <pc:sldMkLst>
          <pc:docMk/>
          <pc:sldMk cId="1572783266" sldId="267"/>
        </pc:sldMkLst>
        <pc:spChg chg="mod">
          <ac:chgData name="Louis URBIN" userId="4b820da4-b95c-427b-b4c5-7ca680eda3a4" providerId="ADAL" clId="{973253C4-3B06-4A7D-8BD3-EEE08C0AACD5}" dt="2025-06-19T11:45:12.888" v="113" actId="20577"/>
          <ac:spMkLst>
            <pc:docMk/>
            <pc:sldMk cId="1572783266" sldId="267"/>
            <ac:spMk id="3" creationId="{77931B28-725B-53C2-BE97-2E257416ADBE}"/>
          </ac:spMkLst>
        </pc:spChg>
        <pc:spChg chg="add del mod">
          <ac:chgData name="Louis URBIN" userId="4b820da4-b95c-427b-b4c5-7ca680eda3a4" providerId="ADAL" clId="{973253C4-3B06-4A7D-8BD3-EEE08C0AACD5}" dt="2025-06-17T11:41:57.728" v="8"/>
          <ac:spMkLst>
            <pc:docMk/>
            <pc:sldMk cId="1572783266" sldId="267"/>
            <ac:spMk id="4" creationId="{E137C73D-272D-0C95-237F-4F0D0C7E5A2B}"/>
          </ac:spMkLst>
        </pc:spChg>
        <pc:picChg chg="add mod">
          <ac:chgData name="Louis URBIN" userId="4b820da4-b95c-427b-b4c5-7ca680eda3a4" providerId="ADAL" clId="{973253C4-3B06-4A7D-8BD3-EEE08C0AACD5}" dt="2025-06-17T11:42:59.807" v="31" actId="1038"/>
          <ac:picMkLst>
            <pc:docMk/>
            <pc:sldMk cId="1572783266" sldId="267"/>
            <ac:picMk id="7" creationId="{3FD1472F-E8F7-124B-F7F4-0BAB35C352E6}"/>
          </ac:picMkLst>
        </pc:picChg>
        <pc:picChg chg="mod">
          <ac:chgData name="Louis URBIN" userId="4b820da4-b95c-427b-b4c5-7ca680eda3a4" providerId="ADAL" clId="{973253C4-3B06-4A7D-8BD3-EEE08C0AACD5}" dt="2025-06-17T11:43:07.397" v="32" actId="1076"/>
          <ac:picMkLst>
            <pc:docMk/>
            <pc:sldMk cId="1572783266" sldId="267"/>
            <ac:picMk id="9" creationId="{325A8AC2-139B-6892-2BF5-A55765698233}"/>
          </ac:picMkLst>
        </pc:picChg>
      </pc:sldChg>
      <pc:sldChg chg="addSp delSp modSp mod">
        <pc:chgData name="Louis URBIN" userId="4b820da4-b95c-427b-b4c5-7ca680eda3a4" providerId="ADAL" clId="{973253C4-3B06-4A7D-8BD3-EEE08C0AACD5}" dt="2025-06-17T11:49:14.337" v="92" actId="20577"/>
        <pc:sldMkLst>
          <pc:docMk/>
          <pc:sldMk cId="906031436" sldId="268"/>
        </pc:sldMkLst>
        <pc:spChg chg="mod">
          <ac:chgData name="Louis URBIN" userId="4b820da4-b95c-427b-b4c5-7ca680eda3a4" providerId="ADAL" clId="{973253C4-3B06-4A7D-8BD3-EEE08C0AACD5}" dt="2025-06-17T11:49:14.337" v="92" actId="20577"/>
          <ac:spMkLst>
            <pc:docMk/>
            <pc:sldMk cId="906031436" sldId="268"/>
            <ac:spMk id="3" creationId="{4FDD900C-BCB6-2868-B01E-A15AA4F30647}"/>
          </ac:spMkLst>
        </pc:spChg>
        <pc:spChg chg="add del mod">
          <ac:chgData name="Louis URBIN" userId="4b820da4-b95c-427b-b4c5-7ca680eda3a4" providerId="ADAL" clId="{973253C4-3B06-4A7D-8BD3-EEE08C0AACD5}" dt="2025-06-17T11:44:57.277" v="36"/>
          <ac:spMkLst>
            <pc:docMk/>
            <pc:sldMk cId="906031436" sldId="268"/>
            <ac:spMk id="7" creationId="{169CAE50-F0B3-FAC8-B0BE-0A466B70D051}"/>
          </ac:spMkLst>
        </pc:spChg>
        <pc:picChg chg="add mod">
          <ac:chgData name="Louis URBIN" userId="4b820da4-b95c-427b-b4c5-7ca680eda3a4" providerId="ADAL" clId="{973253C4-3B06-4A7D-8BD3-EEE08C0AACD5}" dt="2025-06-17T11:47:08.949" v="64" actId="14100"/>
          <ac:picMkLst>
            <pc:docMk/>
            <pc:sldMk cId="906031436" sldId="268"/>
            <ac:picMk id="8" creationId="{7C965828-B87A-8F70-DFC6-5934E811002E}"/>
          </ac:picMkLst>
        </pc:picChg>
        <pc:picChg chg="add mod modCrop">
          <ac:chgData name="Louis URBIN" userId="4b820da4-b95c-427b-b4c5-7ca680eda3a4" providerId="ADAL" clId="{973253C4-3B06-4A7D-8BD3-EEE08C0AACD5}" dt="2025-06-17T11:46:18.301" v="53" actId="1076"/>
          <ac:picMkLst>
            <pc:docMk/>
            <pc:sldMk cId="906031436" sldId="268"/>
            <ac:picMk id="9" creationId="{03EB2683-8017-61EE-D768-952C50F2C075}"/>
          </ac:picMkLst>
        </pc:picChg>
        <pc:picChg chg="del mod">
          <ac:chgData name="Louis URBIN" userId="4b820da4-b95c-427b-b4c5-7ca680eda3a4" providerId="ADAL" clId="{973253C4-3B06-4A7D-8BD3-EEE08C0AACD5}" dt="2025-06-17T11:44:43.825" v="34" actId="478"/>
          <ac:picMkLst>
            <pc:docMk/>
            <pc:sldMk cId="906031436" sldId="268"/>
            <ac:picMk id="10" creationId="{150A769C-0FE5-A347-D4BF-DDC4D47DE06D}"/>
          </ac:picMkLst>
        </pc:picChg>
      </pc:sldChg>
      <pc:sldChg chg="addSp modSp mod modAnim">
        <pc:chgData name="Louis URBIN" userId="4b820da4-b95c-427b-b4c5-7ca680eda3a4" providerId="ADAL" clId="{973253C4-3B06-4A7D-8BD3-EEE08C0AACD5}" dt="2025-06-17T12:03:20.603" v="111"/>
        <pc:sldMkLst>
          <pc:docMk/>
          <pc:sldMk cId="2971863192" sldId="271"/>
        </pc:sldMkLst>
        <pc:picChg chg="add mod">
          <ac:chgData name="Louis URBIN" userId="4b820da4-b95c-427b-b4c5-7ca680eda3a4" providerId="ADAL" clId="{973253C4-3B06-4A7D-8BD3-EEE08C0AACD5}" dt="2025-06-17T12:01:19.274" v="103" actId="1076"/>
          <ac:picMkLst>
            <pc:docMk/>
            <pc:sldMk cId="2971863192" sldId="271"/>
            <ac:picMk id="7" creationId="{DAD23A66-140F-9E03-8487-C7A9A30641C6}"/>
          </ac:picMkLst>
        </pc:picChg>
        <pc:picChg chg="mod">
          <ac:chgData name="Louis URBIN" userId="4b820da4-b95c-427b-b4c5-7ca680eda3a4" providerId="ADAL" clId="{973253C4-3B06-4A7D-8BD3-EEE08C0AACD5}" dt="2025-06-17T12:01:27.213" v="104" actId="1076"/>
          <ac:picMkLst>
            <pc:docMk/>
            <pc:sldMk cId="2971863192" sldId="271"/>
            <ac:picMk id="8" creationId="{48FC413F-F3B0-09B2-7F16-FC3FEE772CA1}"/>
          </ac:picMkLst>
        </pc:picChg>
        <pc:picChg chg="ord">
          <ac:chgData name="Louis URBIN" userId="4b820da4-b95c-427b-b4c5-7ca680eda3a4" providerId="ADAL" clId="{973253C4-3B06-4A7D-8BD3-EEE08C0AACD5}" dt="2025-06-17T12:02:50.340" v="110" actId="166"/>
          <ac:picMkLst>
            <pc:docMk/>
            <pc:sldMk cId="2971863192" sldId="271"/>
            <ac:picMk id="10" creationId="{467261DB-CBE6-4018-0B96-3F163173D15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F6CEBCB-11A0-48C8-8D84-C1D49F4729F3}" type="datetime1">
              <a:rPr lang="hu-HU" smtClean="0"/>
              <a:t>2025. 06. 19.</a:t>
            </a:fld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3BEF70-7203-4BB5-9A9D-C6E5A8F042C0}" type="slidenum">
              <a:rPr lang="hu-HU" smtClean="0"/>
              <a:t>‹N°›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43472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noProof="0" dirty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CC2F3-27B0-4B5C-983A-4EE75874C2B3}" type="datetime1">
              <a:rPr lang="hu-HU" smtClean="0"/>
              <a:pPr/>
              <a:t>2025. 06. 19.</a:t>
            </a:fld>
            <a:endParaRPr lang="hu-HU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hu-HU" noProof="0" dirty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-HU" noProof="0" dirty="0"/>
              <a:t>Mintaszöveg szerkesztése</a:t>
            </a:r>
          </a:p>
          <a:p>
            <a:pPr lvl="1" rtl="0"/>
            <a:r>
              <a:rPr lang="hu-HU" noProof="0" dirty="0"/>
              <a:t>Második szint</a:t>
            </a:r>
          </a:p>
          <a:p>
            <a:pPr lvl="2" rtl="0"/>
            <a:r>
              <a:rPr lang="hu-HU" noProof="0" dirty="0"/>
              <a:t>Harmadik szint</a:t>
            </a:r>
          </a:p>
          <a:p>
            <a:pPr lvl="3" rtl="0"/>
            <a:r>
              <a:rPr lang="hu-HU" noProof="0" dirty="0"/>
              <a:t>Negyedik szint</a:t>
            </a:r>
          </a:p>
          <a:p>
            <a:pPr lvl="4" rtl="0"/>
            <a:r>
              <a:rPr lang="hu-HU" noProof="0" dirty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732C3C-A191-48C2-A7E8-9C96AF841A7A}" type="slidenum">
              <a:rPr lang="hu-HU" noProof="0" smtClean="0"/>
              <a:t>‹N°›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17732C3C-A191-48C2-A7E8-9C96AF841A7A}" type="slidenum">
              <a:rPr lang="hu-HU" noProof="0" smtClean="0"/>
              <a:t>4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99245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8" name="Dátum helye 7">
            <a:extLst>
              <a:ext uri="{FF2B5EF4-FFF2-40B4-BE49-F238E27FC236}">
                <a16:creationId xmlns:a16="http://schemas.microsoft.com/office/drawing/2014/main" id="{FF2E5A61-BC60-0AD0-4B36-94655C9B4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/>
            </a:lvl1pPr>
          </a:lstStyle>
          <a:p>
            <a:fld id="{12954BAF-487B-41E7-9EB1-982C528A5E2C}" type="datetime1">
              <a:rPr lang="en-GB" smtClean="0"/>
              <a:t>19/06/2025</a:t>
            </a:fld>
            <a:endParaRPr lang="hu-HU" dirty="0"/>
          </a:p>
        </p:txBody>
      </p:sp>
      <p:sp>
        <p:nvSpPr>
          <p:cNvPr id="9" name="Élőláb helye 8">
            <a:extLst>
              <a:ext uri="{FF2B5EF4-FFF2-40B4-BE49-F238E27FC236}">
                <a16:creationId xmlns:a16="http://schemas.microsoft.com/office/drawing/2014/main" id="{ED1CF12A-6427-7938-8CB3-E3EB46FF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endParaRPr lang="hu-HU" dirty="0"/>
          </a:p>
        </p:txBody>
      </p:sp>
      <p:sp>
        <p:nvSpPr>
          <p:cNvPr id="10" name="Dia számának helye 9">
            <a:extLst>
              <a:ext uri="{FF2B5EF4-FFF2-40B4-BE49-F238E27FC236}">
                <a16:creationId xmlns:a16="http://schemas.microsoft.com/office/drawing/2014/main" id="{315927F0-4467-93F8-9837-B81C620E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D57F1E4F-1CFF-5643-939E-217C01CDF565}" type="slidenum">
              <a:rPr lang="hu-HU" smtClean="0"/>
              <a:pPr/>
              <a:t>‹N°›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6362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26E8773-C3B4-4E7F-97F8-04B92B98F3D4}" type="datetime1">
              <a:rPr lang="en-GB" noProof="0" smtClean="0"/>
              <a:t>19/06/2025</a:t>
            </a:fld>
            <a:endParaRPr lang="hu-H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rtl="0"/>
            <a:fld id="{D57F1E4F-1CFF-5643-939E-217C01CDF565}" type="slidenum">
              <a:rPr lang="hu-HU" noProof="0" smtClean="0"/>
              <a:pPr rtl="0"/>
              <a:t>‹N°›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76606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B835E0B-2409-4A22-A1B2-620BD00BD3D5}" type="datetime1">
              <a:rPr lang="en-GB" noProof="0" smtClean="0"/>
              <a:t>19/06/2025</a:t>
            </a:fld>
            <a:endParaRPr lang="hu-H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hu-HU" noProof="0" smtClean="0"/>
              <a:pPr rtl="0"/>
              <a:t>‹N°›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11226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9411AAA-79AB-490F-90AF-907B314BBFDA}" type="datetime1">
              <a:rPr lang="en-GB" noProof="0" smtClean="0"/>
              <a:t>19/06/2025</a:t>
            </a:fld>
            <a:endParaRPr lang="hu-H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hu-HU" noProof="0" smtClean="0"/>
              <a:pPr rtl="0"/>
              <a:t>‹N°›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69634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1FD3053-A00C-42FB-BB4A-6580F3C63057}" type="datetime1">
              <a:rPr lang="en-GB" noProof="0" smtClean="0"/>
              <a:t>19/06/2025</a:t>
            </a:fld>
            <a:endParaRPr lang="hu-HU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hu-HU" noProof="0" smtClean="0"/>
              <a:pPr rtl="0"/>
              <a:t>‹N°›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009149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lang="hu-HU" sz="1200" kern="1200" noProof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DC0A0E1-0F7E-495F-AD2D-47AFB4A047EF}" type="datetime1">
              <a:rPr lang="en-GB" smtClean="0"/>
              <a:t>19/06/2025</a:t>
            </a:fld>
            <a:endParaRPr lang="hu-H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hu-HU" noProof="0" smtClean="0"/>
              <a:pPr rtl="0"/>
              <a:t>‹N°›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63456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E5C5224-3B88-4963-BC12-12DD86D0B8A1}" type="datetime1">
              <a:rPr lang="en-GB" noProof="0" smtClean="0"/>
              <a:t>19/06/2025</a:t>
            </a:fld>
            <a:endParaRPr lang="hu-HU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hu-HU" noProof="0" smtClean="0"/>
              <a:pPr rtl="0"/>
              <a:t>‹N°›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319329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5A39E49-CBFD-4BEB-BFE8-C372003F1293}" type="datetime1">
              <a:rPr lang="en-GB" noProof="0" smtClean="0"/>
              <a:t>19/06/2025</a:t>
            </a:fld>
            <a:endParaRPr lang="hu-H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hu-HU" noProof="0" smtClean="0"/>
              <a:pPr rtl="0"/>
              <a:t>‹N°›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3034793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F5B32A3-622E-45C4-B890-5AA62EC29380}" type="datetime1">
              <a:rPr lang="en-GB" noProof="0" smtClean="0"/>
              <a:t>19/06/2025</a:t>
            </a:fld>
            <a:endParaRPr lang="hu-H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hu-HU" noProof="0" smtClean="0"/>
              <a:pPr rtl="0"/>
              <a:t>‹N°›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61756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F21782F-0551-4DCE-AF36-A6CDD46A589A}" type="datetime1">
              <a:rPr lang="en-GB" noProof="0" smtClean="0"/>
              <a:t>19/06/2025</a:t>
            </a:fld>
            <a:endParaRPr lang="hu-H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hu-HU" noProof="0" smtClean="0"/>
              <a:pPr rtl="0"/>
              <a:t>‹N°›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13164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CFF5C88-B815-45AC-AF46-298473E81C5F}" type="datetime1">
              <a:rPr lang="en-GB" noProof="0" smtClean="0"/>
              <a:t>19/06/2025</a:t>
            </a:fld>
            <a:endParaRPr lang="hu-H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hu-HU" noProof="0" smtClean="0"/>
              <a:pPr rtl="0"/>
              <a:t>‹N°›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110322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accent2"/>
                </a:solidFill>
              </a:defRPr>
            </a:lvl1pPr>
          </a:lstStyle>
          <a:p>
            <a:fld id="{54F4736D-DCBA-4CA7-BAE6-4E5F0CE7B16D}" type="datetime1">
              <a:rPr lang="en-GB" smtClean="0"/>
              <a:t>19/06/2025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cap="all">
                <a:solidFill>
                  <a:schemeClr val="accent2"/>
                </a:solidFill>
              </a:defRPr>
            </a:lvl1pPr>
          </a:lstStyle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hu-HU" smtClean="0"/>
              <a:pPr/>
              <a:t>‹N°›</a:t>
            </a:fld>
            <a:endParaRPr lang="hu-HU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9310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A2F4C8-98A0-1005-F7E0-CEF798EB1E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Introduction to Machine learning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401DB5C-0E7C-F2D5-5DEC-BCD2D6D2A6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Second Project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58F30BF1-77CF-9E94-FE3B-6F1F71E2291D}"/>
              </a:ext>
            </a:extLst>
          </p:cNvPr>
          <p:cNvSpPr txBox="1"/>
          <p:nvPr/>
        </p:nvSpPr>
        <p:spPr>
          <a:xfrm>
            <a:off x="581190" y="5632971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cap="all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Louis Urbin</a:t>
            </a:r>
          </a:p>
          <a:p>
            <a:r>
              <a:rPr lang="en-US" cap="all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Dániel Galacz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BFAF213-394A-0455-FE9B-4280BEBC8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C9A0372-E8C2-4F13-A991-70A95BE80E5F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80E6FD6-D123-F9C4-E320-523A5DEA6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303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1F48CA-9C7C-8DF1-DAE7-AEC05F45F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809D0C4-E8C9-761F-E979-625ABE58A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183976" cy="3678303"/>
          </a:xfrm>
        </p:spPr>
        <p:txBody>
          <a:bodyPr>
            <a:normAutofit lnSpcReduction="10000"/>
          </a:bodyPr>
          <a:lstStyle/>
          <a:p>
            <a:r>
              <a:rPr lang="en-US" noProof="0" dirty="0"/>
              <a:t>Based on the Beijing PM2.5 dataset</a:t>
            </a:r>
          </a:p>
          <a:p>
            <a:pPr lvl="1"/>
            <a:r>
              <a:rPr lang="en-US" noProof="0" dirty="0"/>
              <a:t>Air quality and meteorological measurements</a:t>
            </a:r>
          </a:p>
          <a:p>
            <a:pPr lvl="2"/>
            <a:r>
              <a:rPr lang="en-US" noProof="0" dirty="0"/>
              <a:t>Particulate matter with diameter less than 2.5 micrometers</a:t>
            </a:r>
          </a:p>
          <a:p>
            <a:pPr lvl="1"/>
            <a:r>
              <a:rPr lang="en-US" noProof="0" dirty="0"/>
              <a:t>2010-2014</a:t>
            </a:r>
          </a:p>
          <a:p>
            <a:r>
              <a:rPr lang="en-US" noProof="0"/>
              <a:t>2 objectives:</a:t>
            </a:r>
            <a:endParaRPr lang="en-US" noProof="0" dirty="0"/>
          </a:p>
          <a:p>
            <a:pPr lvl="1"/>
            <a:r>
              <a:rPr lang="en-US" noProof="0" dirty="0"/>
              <a:t>Classification</a:t>
            </a:r>
          </a:p>
          <a:p>
            <a:pPr lvl="1"/>
            <a:r>
              <a:rPr lang="en-US" noProof="0" dirty="0"/>
              <a:t>Forecasting</a:t>
            </a:r>
          </a:p>
          <a:p>
            <a:r>
              <a:rPr lang="en-US" noProof="0" dirty="0"/>
              <a:t>4 levels based on EPA thresholds</a:t>
            </a:r>
          </a:p>
          <a:p>
            <a:pPr lvl="1"/>
            <a:endParaRPr lang="en-US" noProof="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A65498C-A5BA-A765-6FB7-E6AF42E4B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D8B16C8-1648-4007-963B-ABF64711FF84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A6BC901-7473-6402-D1EC-65F226B3F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2</a:t>
            </a:fld>
            <a:endParaRPr lang="en-US" noProof="0" dirty="0"/>
          </a:p>
        </p:txBody>
      </p:sp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CD5F5529-D930-EE6C-E5FE-D3D369859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241741"/>
              </p:ext>
            </p:extLst>
          </p:nvPr>
        </p:nvGraphicFramePr>
        <p:xfrm>
          <a:off x="6765169" y="2047441"/>
          <a:ext cx="4970819" cy="3577210"/>
        </p:xfrm>
        <a:graphic>
          <a:graphicData uri="http://schemas.openxmlformats.org/drawingml/2006/table">
            <a:tbl>
              <a:tblPr/>
              <a:tblGrid>
                <a:gridCol w="2528710">
                  <a:extLst>
                    <a:ext uri="{9D8B030D-6E8A-4147-A177-3AD203B41FA5}">
                      <a16:colId xmlns:a16="http://schemas.microsoft.com/office/drawing/2014/main" val="2990816291"/>
                    </a:ext>
                  </a:extLst>
                </a:gridCol>
                <a:gridCol w="1368274">
                  <a:extLst>
                    <a:ext uri="{9D8B030D-6E8A-4147-A177-3AD203B41FA5}">
                      <a16:colId xmlns:a16="http://schemas.microsoft.com/office/drawing/2014/main" val="2692786151"/>
                    </a:ext>
                  </a:extLst>
                </a:gridCol>
                <a:gridCol w="1073835">
                  <a:extLst>
                    <a:ext uri="{9D8B030D-6E8A-4147-A177-3AD203B41FA5}">
                      <a16:colId xmlns:a16="http://schemas.microsoft.com/office/drawing/2014/main" val="1208048100"/>
                    </a:ext>
                  </a:extLst>
                </a:gridCol>
              </a:tblGrid>
              <a:tr h="5110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EPA category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μg</a:t>
                      </a:r>
                      <a:r>
                        <a:rPr lang="en-US" sz="15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/m</a:t>
                      </a:r>
                      <a:r>
                        <a:rPr lang="en-US" sz="1500" b="1" i="0" u="none" strike="noStrike" baseline="300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r>
                        <a:rPr lang="en-US" sz="15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of PM2.5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Our category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810929"/>
                  </a:ext>
                </a:extLst>
              </a:tr>
              <a:tr h="5110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1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Good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 to 9.0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1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Good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714334"/>
                  </a:ext>
                </a:extLst>
              </a:tr>
              <a:tr h="5110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1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 to 35.4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1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790455"/>
                  </a:ext>
                </a:extLst>
              </a:tr>
              <a:tr h="5110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1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Unhealthy for sensitive groups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35.5 to 55.4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500" b="1" i="1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Unhealthy</a:t>
                      </a:r>
                    </a:p>
                  </a:txBody>
                  <a:tcPr marL="122647" marR="122647" marT="61324" marB="6132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637312"/>
                  </a:ext>
                </a:extLst>
              </a:tr>
              <a:tr h="5110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1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Unhealthy 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55.5 to 125.4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424618"/>
                  </a:ext>
                </a:extLst>
              </a:tr>
              <a:tr h="5110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1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Very unhealthy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29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125.5 to 225.4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111420"/>
                  </a:ext>
                </a:extLst>
              </a:tr>
              <a:tr h="5110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1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Hazardous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225.5+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1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Hazardous</a:t>
                      </a:r>
                    </a:p>
                  </a:txBody>
                  <a:tcPr marL="10221" marR="10221" marT="102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685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54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DF3B52-1A97-CB6A-C016-86086924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 exploration and preparation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8604E43-3E8E-BE05-9AF8-3A0B5F2AB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8D4B7B3-9B50-6FAF-94D3-CC97F4AE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E66AD17-93D8-40C4-ACC2-9CD4B0DD333D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7FBD95E-98E5-AEEA-E3C6-966FF6351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9845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3FC17C-CAB0-DFDF-3F41-E80C12C7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 understanding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8A87BC2-FDE2-FAAF-D387-D2DB84167E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noProof="0" dirty="0"/>
              <a:t>43824 hourly observations from 2010 to 2014 in Beijing</a:t>
            </a:r>
          </a:p>
          <a:p>
            <a:r>
              <a:rPr lang="en-US" noProof="0" dirty="0"/>
              <a:t>PM2.5 had missing values</a:t>
            </a:r>
          </a:p>
          <a:p>
            <a:pPr lvl="1"/>
            <a:r>
              <a:rPr lang="en-US" noProof="0" dirty="0"/>
              <a:t>We used the median</a:t>
            </a:r>
          </a:p>
          <a:p>
            <a:r>
              <a:rPr lang="en-US" noProof="0" dirty="0"/>
              <a:t>We created an Air Quality variable, based on PM2.5 thresholds</a:t>
            </a:r>
          </a:p>
          <a:p>
            <a:r>
              <a:rPr lang="en-US" noProof="0" dirty="0"/>
              <a:t>We plotted the distribution of key features grouped by air quality levels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CDC23D2-AC86-0A51-56DC-7D5EFF5A05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4B61D19-30B7-1138-F7DA-B073C124C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C975D61-6EF9-4E37-93A7-AC8FCB44F1C4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A3082A9-5104-F7C5-B972-4F4DD4FC1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4</a:t>
            </a:fld>
            <a:endParaRPr lang="en-US" noProof="0" dirty="0"/>
          </a:p>
        </p:txBody>
      </p:sp>
      <p:pic>
        <p:nvPicPr>
          <p:cNvPr id="10" name="Tartalom helye 7" descr="A képen szöveg, illusztráció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7EF308A-2065-4858-FE1C-CA50ED6C63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594"/>
          <a:stretch/>
        </p:blipFill>
        <p:spPr>
          <a:xfrm>
            <a:off x="6003583" y="326791"/>
            <a:ext cx="6332145" cy="4248000"/>
          </a:xfrm>
          <a:prstGeom prst="rect">
            <a:avLst/>
          </a:prstGeom>
        </p:spPr>
      </p:pic>
      <p:pic>
        <p:nvPicPr>
          <p:cNvPr id="9" name="Tartalom helye 7" descr="A képen szöveg, illusztráció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617425A4-BCAF-5CAE-4393-8A1C48A309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894"/>
          <a:stretch/>
        </p:blipFill>
        <p:spPr>
          <a:xfrm>
            <a:off x="-57065" y="326791"/>
            <a:ext cx="6245482" cy="42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16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5ABDA2-4689-48F9-E493-EA202549F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Dewpoint and </a:t>
            </a:r>
            <a:r>
              <a:rPr lang="en-US" noProof="0" dirty="0" err="1"/>
              <a:t>tempereature</a:t>
            </a:r>
            <a:endParaRPr lang="en-US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1B96E92-FE9E-68C3-56B6-85D876A17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0E6FEE4-D8A7-4774-A361-292B197AEBE5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D6C4BF2-A877-95E7-32DF-EB385C05A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5</a:t>
            </a:fld>
            <a:endParaRPr lang="en-US" noProof="0" dirty="0"/>
          </a:p>
        </p:txBody>
      </p:sp>
      <p:pic>
        <p:nvPicPr>
          <p:cNvPr id="16" name="Tartalom helye 15">
            <a:extLst>
              <a:ext uri="{FF2B5EF4-FFF2-40B4-BE49-F238E27FC236}">
                <a16:creationId xmlns:a16="http://schemas.microsoft.com/office/drawing/2014/main" id="{1584F032-630E-56FA-6105-CBADC9A6AA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22821" y="2227263"/>
            <a:ext cx="3539307" cy="3633787"/>
          </a:xfrm>
        </p:spPr>
      </p:pic>
      <p:pic>
        <p:nvPicPr>
          <p:cNvPr id="18" name="Tartalom helye 17">
            <a:extLst>
              <a:ext uri="{FF2B5EF4-FFF2-40B4-BE49-F238E27FC236}">
                <a16:creationId xmlns:a16="http://schemas.microsoft.com/office/drawing/2014/main" id="{C66D08FF-6875-0D33-3839-8C211A707A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112690" y="2227263"/>
            <a:ext cx="3573669" cy="3633787"/>
          </a:xfrm>
        </p:spPr>
      </p:pic>
    </p:spTree>
    <p:extLst>
      <p:ext uri="{BB962C8B-B14F-4D97-AF65-F5344CB8AC3E}">
        <p14:creationId xmlns:p14="http://schemas.microsoft.com/office/powerpoint/2010/main" val="183123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D344E9F-8A93-C167-E05D-997ECBEB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Wind direction and wind speed</a:t>
            </a:r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3F6FBBBD-276D-E8A9-14EB-B0C29235127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85492" y="2227263"/>
            <a:ext cx="3613966" cy="3633787"/>
          </a:xfrm>
        </p:spPr>
      </p:pic>
      <p:pic>
        <p:nvPicPr>
          <p:cNvPr id="10" name="Tartalom helye 9">
            <a:extLst>
              <a:ext uri="{FF2B5EF4-FFF2-40B4-BE49-F238E27FC236}">
                <a16:creationId xmlns:a16="http://schemas.microsoft.com/office/drawing/2014/main" id="{A015BE9F-B1C5-9C19-4673-CC531330C8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95869" y="2227263"/>
            <a:ext cx="3607311" cy="3633787"/>
          </a:xfrm>
        </p:spPr>
      </p:pic>
      <p:sp>
        <p:nvSpPr>
          <p:cNvPr id="5" name="Dátum helye 4">
            <a:extLst>
              <a:ext uri="{FF2B5EF4-FFF2-40B4-BE49-F238E27FC236}">
                <a16:creationId xmlns:a16="http://schemas.microsoft.com/office/drawing/2014/main" id="{FD8B82AE-FAAE-1E3A-78B9-9AE0B497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8D229D5-BBDD-4E25-B1E2-267F6898056B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EC2D9DD-F120-2179-85EF-51438C33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136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D2815E0-5D3C-A4C5-E7D4-96699EBC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Correlation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BBF9523-C0BF-6AD1-431A-15DF1DB0A8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noProof="0" dirty="0"/>
              <a:t>Correlation between Number and Year</a:t>
            </a:r>
          </a:p>
          <a:p>
            <a:pPr lvl="1"/>
            <a:r>
              <a:rPr lang="en-US" noProof="0" dirty="0"/>
              <a:t> Both represent temporal order</a:t>
            </a:r>
          </a:p>
          <a:p>
            <a:r>
              <a:rPr lang="en-US" noProof="0" dirty="0"/>
              <a:t>Correlation between Temperature, Pressure and Dewpoint</a:t>
            </a:r>
          </a:p>
          <a:p>
            <a:pPr lvl="1"/>
            <a:r>
              <a:rPr lang="en-US" noProof="0" dirty="0"/>
              <a:t>Because of physical laws</a:t>
            </a:r>
          </a:p>
        </p:txBody>
      </p:sp>
      <p:pic>
        <p:nvPicPr>
          <p:cNvPr id="8" name="Tartalom helye 7" descr="A képen szöveg, képernyőkép, diagram, Színesség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7FB2850-5CFE-C9C3-46BD-ED8C44946F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09187" y="2227263"/>
            <a:ext cx="4580675" cy="3633787"/>
          </a:xfrm>
        </p:spPr>
      </p:pic>
      <p:sp>
        <p:nvSpPr>
          <p:cNvPr id="5" name="Dátum helye 4">
            <a:extLst>
              <a:ext uri="{FF2B5EF4-FFF2-40B4-BE49-F238E27FC236}">
                <a16:creationId xmlns:a16="http://schemas.microsoft.com/office/drawing/2014/main" id="{29C7709A-CDAD-0E8F-62E0-6D946D73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44B0F48-F14B-4BD5-83F1-9C655515532E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86B8681-E89C-C83A-0A0E-B883F0CA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2702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22AE04-08F1-1E5D-FE02-B25263679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Investigation of temporal patterns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01F5769-40D4-7178-3288-B32B491759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noProof="0" dirty="0"/>
              <a:t>Dewpoint and Temperature are lower during winter, while Pressure is higher</a:t>
            </a:r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91F099C7-3839-8FA6-5008-9B6209D2CE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1251"/>
          <a:stretch/>
        </p:blipFill>
        <p:spPr>
          <a:xfrm>
            <a:off x="7001480" y="2227263"/>
            <a:ext cx="3796089" cy="3588321"/>
          </a:xfrm>
        </p:spPr>
      </p:pic>
      <p:sp>
        <p:nvSpPr>
          <p:cNvPr id="5" name="Dátum helye 4">
            <a:extLst>
              <a:ext uri="{FF2B5EF4-FFF2-40B4-BE49-F238E27FC236}">
                <a16:creationId xmlns:a16="http://schemas.microsoft.com/office/drawing/2014/main" id="{9BF9D3FA-9D1B-DF7F-5684-852BF3E4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D91E6C1-5284-4C40-AD6F-05AB76FF9C99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E537B7C-F809-FD0D-36A8-505E4992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8</a:t>
            </a:fld>
            <a:endParaRPr lang="en-US" noProof="0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BF3A5D43-4777-3FA6-8BD1-B08B08BA4643}"/>
              </a:ext>
            </a:extLst>
          </p:cNvPr>
          <p:cNvSpPr txBox="1"/>
          <p:nvPr/>
        </p:nvSpPr>
        <p:spPr>
          <a:xfrm rot="16200000">
            <a:off x="5304851" y="3749484"/>
            <a:ext cx="31990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PRES           TEMP         DEWP</a:t>
            </a:r>
          </a:p>
        </p:txBody>
      </p:sp>
    </p:spTree>
    <p:extLst>
      <p:ext uri="{BB962C8B-B14F-4D97-AF65-F5344CB8AC3E}">
        <p14:creationId xmlns:p14="http://schemas.microsoft.com/office/powerpoint/2010/main" val="348030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B643CD-813D-3912-8068-7DFD51919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Investigation of temporal patterns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0BE4E5-042A-80F6-ACB1-AB1D9DBD07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noProof="0" dirty="0"/>
              <a:t>Most of the rainy days are in the monsoon season between May and September</a:t>
            </a:r>
          </a:p>
          <a:p>
            <a:r>
              <a:rPr lang="en-US" noProof="0" dirty="0"/>
              <a:t>Snowfalls mostly happen during winter</a:t>
            </a:r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DD60F2B6-5D80-CBA2-CE0E-5CD5610B02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7907" y="2292004"/>
            <a:ext cx="5422900" cy="1752522"/>
          </a:xfrm>
        </p:spPr>
      </p:pic>
      <p:sp>
        <p:nvSpPr>
          <p:cNvPr id="5" name="Dátum helye 4">
            <a:extLst>
              <a:ext uri="{FF2B5EF4-FFF2-40B4-BE49-F238E27FC236}">
                <a16:creationId xmlns:a16="http://schemas.microsoft.com/office/drawing/2014/main" id="{9687E40D-A739-B06C-4B3C-6540A8F0D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9411AAA-79AB-490F-90AF-907B314BBFDA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63F15DB-13A4-930B-D3FC-EBBF2A1BC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9</a:t>
            </a:fld>
            <a:endParaRPr lang="en-US" noProof="0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FC4A79F3-1CEA-8161-6E81-0D026A93F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907" y="4044526"/>
            <a:ext cx="5422390" cy="1759802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8E20270D-A501-E76A-1828-7C1C3E7DC6B2}"/>
              </a:ext>
            </a:extLst>
          </p:cNvPr>
          <p:cNvSpPr txBox="1"/>
          <p:nvPr/>
        </p:nvSpPr>
        <p:spPr>
          <a:xfrm rot="16200000">
            <a:off x="4496233" y="3496565"/>
            <a:ext cx="31990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RAIN                 SNOW</a:t>
            </a:r>
          </a:p>
        </p:txBody>
      </p:sp>
    </p:spTree>
    <p:extLst>
      <p:ext uri="{BB962C8B-B14F-4D97-AF65-F5344CB8AC3E}">
        <p14:creationId xmlns:p14="http://schemas.microsoft.com/office/powerpoint/2010/main" val="237777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D85B7F-F449-7EBB-721C-14222773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Classification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15C85E2-A42A-C453-A252-09072AAFA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86D0CF1-5B2B-5C68-4166-183A0F4E0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B835E0B-2409-4A22-A1B2-620BD00BD3D5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99CED01-50F9-3E61-69ED-CD70C9B8C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25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85F7CF-134C-BB81-9E95-B7D830D2D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Vanilla Recurrent Neural Network (VRNN)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A6C58A5-7119-FA23-1B74-5DBFEDCA73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noProof="0" dirty="0"/>
              <a:t>We experienced with several hyperparameter</a:t>
            </a:r>
          </a:p>
          <a:p>
            <a:r>
              <a:rPr lang="en-US" noProof="0" dirty="0"/>
              <a:t>Eventually the training proved unstable</a:t>
            </a:r>
          </a:p>
          <a:p>
            <a:pPr lvl="1"/>
            <a:r>
              <a:rPr lang="en-US" noProof="0" dirty="0"/>
              <a:t>We explored alternative models</a:t>
            </a:r>
          </a:p>
        </p:txBody>
      </p:sp>
      <p:pic>
        <p:nvPicPr>
          <p:cNvPr id="8" name="Tartalom helye 7" descr="A képen szöveg, képernyőkép, menü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DEA2626-6644-9FCA-D181-26B8AFEAA9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53946"/>
          <a:stretch/>
        </p:blipFill>
        <p:spPr>
          <a:xfrm>
            <a:off x="6638292" y="2674737"/>
            <a:ext cx="4972515" cy="2385362"/>
          </a:xfrm>
        </p:spPr>
      </p:pic>
      <p:sp>
        <p:nvSpPr>
          <p:cNvPr id="5" name="Dátum helye 4">
            <a:extLst>
              <a:ext uri="{FF2B5EF4-FFF2-40B4-BE49-F238E27FC236}">
                <a16:creationId xmlns:a16="http://schemas.microsoft.com/office/drawing/2014/main" id="{B35E6CA7-EBF6-6B6C-EB7A-AF7974AFB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9411AAA-79AB-490F-90AF-907B314BBFDA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45B77F1-AE93-7E75-EBCE-B793D1022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11</a:t>
            </a:fld>
            <a:endParaRPr lang="en-US" noProof="0" dirty="0"/>
          </a:p>
        </p:txBody>
      </p:sp>
      <p:pic>
        <p:nvPicPr>
          <p:cNvPr id="9" name="Tartalom helye 7" descr="A képen szöveg, képernyőkép, menü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8868D84F-F096-3107-0EAC-34500D82EF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477"/>
          <a:stretch/>
        </p:blipFill>
        <p:spPr>
          <a:xfrm>
            <a:off x="6638291" y="5060099"/>
            <a:ext cx="4972515" cy="70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225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1306B9-FD5C-4A0A-EBB2-38D6CAF55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Long Short-Term Memory (LSTM)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931B28-725B-53C2-BE97-2E257416AD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noProof="0" dirty="0"/>
              <a:t>We tested several architectures</a:t>
            </a:r>
          </a:p>
          <a:p>
            <a:pPr lvl="1"/>
            <a:r>
              <a:rPr lang="en-US" noProof="0" dirty="0"/>
              <a:t>Different number of units in the LSTM layer</a:t>
            </a:r>
          </a:p>
          <a:p>
            <a:pPr lvl="1"/>
            <a:r>
              <a:rPr lang="en-US" noProof="0" dirty="0"/>
              <a:t>Different sequence lengths</a:t>
            </a:r>
          </a:p>
          <a:p>
            <a:pPr lvl="1"/>
            <a:r>
              <a:rPr lang="en-US" noProof="0" dirty="0"/>
              <a:t>Batch sizes</a:t>
            </a:r>
          </a:p>
          <a:p>
            <a:pPr lvl="1"/>
            <a:r>
              <a:rPr lang="en-US" noProof="0" dirty="0"/>
              <a:t>Dropout rates</a:t>
            </a:r>
          </a:p>
          <a:p>
            <a:r>
              <a:rPr lang="en-US" noProof="0" dirty="0"/>
              <a:t>Significantly better stability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086B3F9-16B9-4DC2-D1C5-074C3ABDF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9411AAA-79AB-490F-90AF-907B314BBFDA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46E93D2-F2F1-51A1-D713-9CA6C2C97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12</a:t>
            </a:fld>
            <a:endParaRPr lang="en-US" noProof="0" dirty="0"/>
          </a:p>
        </p:txBody>
      </p:sp>
      <p:pic>
        <p:nvPicPr>
          <p:cNvPr id="9" name="Tartalom helye 8">
            <a:extLst>
              <a:ext uri="{FF2B5EF4-FFF2-40B4-BE49-F238E27FC236}">
                <a16:creationId xmlns:a16="http://schemas.microsoft.com/office/drawing/2014/main" id="{325A8AC2-139B-6892-2BF5-A557656982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449" t="2406" r="1289" b="7004"/>
          <a:stretch/>
        </p:blipFill>
        <p:spPr>
          <a:xfrm>
            <a:off x="6188419" y="3643685"/>
            <a:ext cx="5422391" cy="2199744"/>
          </a:xfrm>
          <a:prstGeom prst="rect">
            <a:avLst/>
          </a:prstGeom>
        </p:spPr>
      </p:pic>
      <p:pic>
        <p:nvPicPr>
          <p:cNvPr id="7" name="Kép 10">
            <a:extLst>
              <a:ext uri="{FF2B5EF4-FFF2-40B4-BE49-F238E27FC236}">
                <a16:creationId xmlns:a16="http://schemas.microsoft.com/office/drawing/2014/main" id="{3FD1472F-E8F7-124B-F7F4-0BAB35C35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0" y="2362200"/>
            <a:ext cx="5147777" cy="116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8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A3A232-7A53-4208-5CF2-83AC340A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Gated Recurrent Unit (GRU)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FDD900C-BCB6-2868-B01E-A15AA4F306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noProof="0" dirty="0"/>
              <a:t>Did not improve performance</a:t>
            </a:r>
          </a:p>
          <a:p>
            <a:r>
              <a:rPr lang="en-US" dirty="0"/>
              <a:t>Slower</a:t>
            </a:r>
            <a:r>
              <a:rPr lang="en-US" noProof="0" dirty="0"/>
              <a:t> overfitting</a:t>
            </a:r>
          </a:p>
          <a:p>
            <a:r>
              <a:rPr lang="en-US" dirty="0"/>
              <a:t>Simpler model</a:t>
            </a:r>
            <a:endParaRPr lang="en-US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8335D70-DAFC-2DC2-99B2-2D5D20C2E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9411AAA-79AB-490F-90AF-907B314BBFDA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0C098F3-6967-53D0-7149-958956AD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13</a:t>
            </a:fld>
            <a:endParaRPr lang="en-US" noProof="0" dirty="0"/>
          </a:p>
        </p:txBody>
      </p:sp>
      <p:pic>
        <p:nvPicPr>
          <p:cNvPr id="8" name="Kép 12">
            <a:extLst>
              <a:ext uri="{FF2B5EF4-FFF2-40B4-BE49-F238E27FC236}">
                <a16:creationId xmlns:a16="http://schemas.microsoft.com/office/drawing/2014/main" id="{7C965828-B87A-8F70-DFC6-5934E8110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582" y="2354564"/>
            <a:ext cx="5137225" cy="1074435"/>
          </a:xfrm>
          <a:prstGeom prst="rect">
            <a:avLst/>
          </a:prstGeom>
        </p:spPr>
      </p:pic>
      <p:pic>
        <p:nvPicPr>
          <p:cNvPr id="9" name="Kép 11">
            <a:extLst>
              <a:ext uri="{FF2B5EF4-FFF2-40B4-BE49-F238E27FC236}">
                <a16:creationId xmlns:a16="http://schemas.microsoft.com/office/drawing/2014/main" id="{03EB2683-8017-61EE-D768-952C50F2C07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843" t="1702" r="1500" b="1974"/>
          <a:stretch/>
        </p:blipFill>
        <p:spPr>
          <a:xfrm>
            <a:off x="6314907" y="3668407"/>
            <a:ext cx="5295900" cy="215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3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9BAD2F-77D9-25D7-C337-921838D3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Forecasting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3EF37BA-5716-DB45-8382-3B13EB0A5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268E312-4882-03C6-3F18-0F86BC4F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B835E0B-2409-4A22-A1B2-620BD00BD3D5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E125A36-2143-C063-C324-21308BF48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245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75DFAB-EB17-5B52-EDCF-81342FC2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LSTM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7397E0A-339D-3CC1-0297-5EFE187A72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noProof="0" dirty="0"/>
              <a:t>We tried 1, 2 and 3-layered networks</a:t>
            </a:r>
          </a:p>
          <a:p>
            <a:r>
              <a:rPr lang="en-US" noProof="0" dirty="0"/>
              <a:t>The best model:</a:t>
            </a:r>
          </a:p>
          <a:p>
            <a:pPr lvl="1"/>
            <a:r>
              <a:rPr lang="en-US" noProof="0" dirty="0"/>
              <a:t>Single LSTM layer</a:t>
            </a:r>
          </a:p>
          <a:p>
            <a:pPr lvl="1"/>
            <a:r>
              <a:rPr lang="en-US" noProof="0" dirty="0"/>
              <a:t>64 neurons</a:t>
            </a:r>
          </a:p>
          <a:p>
            <a:pPr lvl="1"/>
            <a:r>
              <a:rPr lang="en-US" noProof="0" dirty="0"/>
              <a:t>Window size of 100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D039257-A173-B50D-0177-258FD53A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9411AAA-79AB-490F-90AF-907B314BBFDA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85B6885-3BFE-A7FF-9444-745750D4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15</a:t>
            </a:fld>
            <a:endParaRPr lang="en-US" noProof="0" dirty="0"/>
          </a:p>
        </p:txBody>
      </p:sp>
      <p:pic>
        <p:nvPicPr>
          <p:cNvPr id="9" name="Tartalom helye 8">
            <a:extLst>
              <a:ext uri="{FF2B5EF4-FFF2-40B4-BE49-F238E27FC236}">
                <a16:creationId xmlns:a16="http://schemas.microsoft.com/office/drawing/2014/main" id="{9CAF7FD8-063C-F6DE-35D9-E25FC2BBBF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981" t="1449" r="3191" b="2592"/>
          <a:stretch/>
        </p:blipFill>
        <p:spPr>
          <a:xfrm>
            <a:off x="6492239" y="2279904"/>
            <a:ext cx="4706113" cy="3486912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4B02E8C-4B68-8A4B-FE42-8BD5BBB3F7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6" t="2275" r="963" b="5587"/>
          <a:stretch/>
        </p:blipFill>
        <p:spPr>
          <a:xfrm>
            <a:off x="488776" y="2512853"/>
            <a:ext cx="11029614" cy="302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8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442410-612D-C508-B0C5-D2E24420B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encoder-decoder RNN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9453784-2D7A-5134-BE75-9C891173A3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noProof="0" dirty="0"/>
              <a:t>L2 regularization </a:t>
            </a:r>
          </a:p>
          <a:p>
            <a:r>
              <a:rPr lang="en-US" noProof="0" dirty="0" err="1"/>
              <a:t>Glorot</a:t>
            </a:r>
            <a:r>
              <a:rPr lang="en-US" noProof="0" dirty="0"/>
              <a:t> uniform initializer </a:t>
            </a:r>
          </a:p>
          <a:p>
            <a:pPr lvl="1"/>
            <a:r>
              <a:rPr lang="en-US" noProof="0" dirty="0"/>
              <a:t>Effective for sigmoid activations in recurrent layers</a:t>
            </a:r>
          </a:p>
          <a:p>
            <a:r>
              <a:rPr lang="en-US" noProof="0" dirty="0"/>
              <a:t>Faster convergence</a:t>
            </a:r>
          </a:p>
          <a:p>
            <a:r>
              <a:rPr lang="en-US" noProof="0" dirty="0"/>
              <a:t>Less accurate for extreme pollution events</a:t>
            </a:r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48FC413F-F3B0-09B2-7F16-FC3FEE772C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50143" y="2946202"/>
            <a:ext cx="3870532" cy="2914107"/>
          </a:xfrm>
        </p:spPr>
      </p:pic>
      <p:sp>
        <p:nvSpPr>
          <p:cNvPr id="5" name="Dátum helye 4">
            <a:extLst>
              <a:ext uri="{FF2B5EF4-FFF2-40B4-BE49-F238E27FC236}">
                <a16:creationId xmlns:a16="http://schemas.microsoft.com/office/drawing/2014/main" id="{46E93E8A-C254-E2DF-EB3C-38CF6E4E2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9411AAA-79AB-490F-90AF-907B314BBFDA}" type="datetime1">
              <a:rPr lang="en-US" noProof="0" smtClean="0"/>
              <a:t>6/19/2025</a:t>
            </a:fld>
            <a:endParaRPr lang="en-US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716908D-CF77-7577-3F8B-777096509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noProof="0" smtClean="0"/>
              <a:pPr rtl="0"/>
              <a:t>16</a:t>
            </a:fld>
            <a:endParaRPr lang="en-US" noProof="0" dirty="0"/>
          </a:p>
        </p:txBody>
      </p:sp>
      <p:pic>
        <p:nvPicPr>
          <p:cNvPr id="7" name="Image 6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AD23A66-140F-9E03-8487-C7A9A3064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859" y="1994131"/>
            <a:ext cx="4785100" cy="895756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467261DB-CBE6-4018-0B96-3F163173D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17" y="2532156"/>
            <a:ext cx="11096766" cy="3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6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sztalék">
  <a:themeElements>
    <a:clrScheme name="Kék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sztalék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sztalék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051B7F-F45F-4FBB-974B-85B568B21B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F4A21B-80B9-40F1-8308-E0B7F0FE0B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E96646-423E-4354-94C2-1A28227BF07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Osztalék</Template>
  <TotalTime>550</TotalTime>
  <Words>345</Words>
  <Application>Microsoft Office PowerPoint</Application>
  <PresentationFormat>Grand écran</PresentationFormat>
  <Paragraphs>115</Paragraphs>
  <Slides>16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Calibri</vt:lpstr>
      <vt:lpstr>Gill Sans MT</vt:lpstr>
      <vt:lpstr>Wingdings 2</vt:lpstr>
      <vt:lpstr>Osztalék</vt:lpstr>
      <vt:lpstr>Introduction to Machine learning</vt:lpstr>
      <vt:lpstr>Introduction</vt:lpstr>
      <vt:lpstr>Data exploration and preparation</vt:lpstr>
      <vt:lpstr>Data understanding</vt:lpstr>
      <vt:lpstr>Dewpoint and tempereature</vt:lpstr>
      <vt:lpstr>Wind direction and wind speed</vt:lpstr>
      <vt:lpstr>Correlation</vt:lpstr>
      <vt:lpstr>Investigation of temporal patterns</vt:lpstr>
      <vt:lpstr>Investigation of temporal patterns</vt:lpstr>
      <vt:lpstr>Classification</vt:lpstr>
      <vt:lpstr>Vanilla Recurrent Neural Network (VRNN)</vt:lpstr>
      <vt:lpstr>Long Short-Term Memory (LSTM)</vt:lpstr>
      <vt:lpstr>Gated Recurrent Unit (GRU)</vt:lpstr>
      <vt:lpstr>Forecasting</vt:lpstr>
      <vt:lpstr>LSTM </vt:lpstr>
      <vt:lpstr>encoder-decoder RNN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 D</dc:creator>
  <cp:lastModifiedBy>Louis URBIN</cp:lastModifiedBy>
  <cp:revision>12</cp:revision>
  <dcterms:created xsi:type="dcterms:W3CDTF">2025-06-10T08:57:39Z</dcterms:created>
  <dcterms:modified xsi:type="dcterms:W3CDTF">2025-06-19T11:45:23Z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